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pic>
        <p:nvPicPr>
          <p:cNvPr id="2" name="Picture 1" descr="logo-head.png"/>
          <p:cNvPicPr>
            <a:picLocks noChangeAspect="1"/>
          </p:cNvPicPr>
          <p:nvPr/>
        </p:nvPicPr>
        <p:blipFill>
          <a:blip r:embed="rId2"/>
          <a:stretch>
            <a:fillRect/>
          </a:stretch>
        </p:blipFill>
        <p:spPr>
          <a:xfrm>
            <a:off x="685800" y="594360"/>
            <a:ext cx="389649" cy="502920"/>
          </a:xfrm>
          <a:prstGeom prst="rect">
            <a:avLst/>
          </a:prstGeom>
        </p:spPr>
      </p:pic>
      <p:sp>
        <p:nvSpPr>
          <p:cNvPr id="3" name="TextBox 2"/>
          <p:cNvSpPr txBox="1"/>
          <p:nvPr/>
        </p:nvSpPr>
        <p:spPr>
          <a:xfrm>
            <a:off x="685800" y="2286000"/>
            <a:ext cx="10789920" cy="457200"/>
          </a:xfrm>
          <a:prstGeom prst="rect">
            <a:avLst/>
          </a:prstGeom>
          <a:noFill/>
        </p:spPr>
        <p:txBody>
          <a:bodyPr wrap="square" anchor="t" lIns="0" rIns="0" tIns="0" bIns="0">
            <a:spAutoFit/>
          </a:bodyPr>
          <a:lstStyle/>
          <a:p>
            <a:pPr algn="l">
              <a:lnSpc>
                <a:spcPct val="115000"/>
              </a:lnSpc>
            </a:pPr>
            <a:r>
              <a:rPr sz="1300" b="1">
                <a:solidFill>
                  <a:srgbClr val="4E9BF0"/>
                </a:solidFill>
                <a:latin typeface="Helvetica Neue"/>
              </a:rPr>
              <a:t>OFFICIAL COLLABORATION PARTNER ONBOARDING</a:t>
            </a:r>
          </a:p>
        </p:txBody>
      </p:sp>
      <p:sp>
        <p:nvSpPr>
          <p:cNvPr id="4" name="TextBox 3"/>
          <p:cNvSpPr txBox="1"/>
          <p:nvPr/>
        </p:nvSpPr>
        <p:spPr>
          <a:xfrm>
            <a:off x="685800" y="2697480"/>
            <a:ext cx="10789920" cy="1828800"/>
          </a:xfrm>
          <a:prstGeom prst="rect">
            <a:avLst/>
          </a:prstGeom>
          <a:noFill/>
        </p:spPr>
        <p:txBody>
          <a:bodyPr wrap="square" anchor="t" lIns="0" rIns="0" tIns="0" bIns="0">
            <a:spAutoFit/>
          </a:bodyPr>
          <a:lstStyle/>
          <a:p>
            <a:pPr algn="l">
              <a:lnSpc>
                <a:spcPct val="105000"/>
              </a:lnSpc>
            </a:pPr>
            <a:r>
              <a:rPr sz="4400" b="1">
                <a:solidFill>
                  <a:srgbClr val="FFFFFF"/>
                </a:solidFill>
                <a:latin typeface="Helvetica Neue"/>
              </a:rPr>
              <a:t>Welcome to Zebraish,</a:t>
            </a:r>
          </a:p>
          <a:p>
            <a:pPr algn="l">
              <a:lnSpc>
                <a:spcPct val="105000"/>
              </a:lnSpc>
            </a:pPr>
            <a:r>
              <a:rPr sz="4400" b="1">
                <a:solidFill>
                  <a:srgbClr val="FFFFFF"/>
                </a:solidFill>
                <a:latin typeface="Helvetica Neue"/>
              </a:rPr>
              <a:t>Christian.</a:t>
            </a:r>
          </a:p>
        </p:txBody>
      </p:sp>
      <p:sp>
        <p:nvSpPr>
          <p:cNvPr id="5" name="TextBox 4"/>
          <p:cNvSpPr txBox="1"/>
          <p:nvPr/>
        </p:nvSpPr>
        <p:spPr>
          <a:xfrm>
            <a:off x="685800" y="4160520"/>
            <a:ext cx="8686800" cy="914400"/>
          </a:xfrm>
          <a:prstGeom prst="rect">
            <a:avLst/>
          </a:prstGeom>
          <a:noFill/>
        </p:spPr>
        <p:txBody>
          <a:bodyPr wrap="square" anchor="t" lIns="0" rIns="0" tIns="0" bIns="0">
            <a:spAutoFit/>
          </a:bodyPr>
          <a:lstStyle/>
          <a:p>
            <a:pPr algn="l">
              <a:lnSpc>
                <a:spcPct val="130000"/>
              </a:lnSpc>
            </a:pPr>
            <a:r>
              <a:rPr sz="1700" b="0">
                <a:solidFill>
                  <a:srgbClr val="A6ACBA"/>
                </a:solidFill>
                <a:latin typeface="Helvetica Neue"/>
              </a:rPr>
              <a:t>Everything you need to know about the brand, your role, and how the collaboration works day to day, before you sign anything.</a:t>
            </a:r>
          </a:p>
        </p:txBody>
      </p:sp>
      <p:cxnSp>
        <p:nvCxnSpPr>
          <p:cNvPr id="6" name="Connector 5"/>
          <p:cNvCxnSpPr/>
          <p:nvPr/>
        </p:nvCxnSpPr>
        <p:spPr>
          <a:xfrm>
            <a:off x="685800" y="516636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5321808"/>
            <a:ext cx="2926080" cy="201168"/>
          </a:xfrm>
          <a:prstGeom prst="rect">
            <a:avLst/>
          </a:prstGeom>
          <a:noFill/>
        </p:spPr>
        <p:txBody>
          <a:bodyPr wrap="square" anchor="t" lIns="0" rIns="0" tIns="0" bIns="0">
            <a:spAutoFit/>
          </a:bodyPr>
          <a:lstStyle/>
          <a:p>
            <a:pPr algn="l">
              <a:lnSpc>
                <a:spcPct val="115000"/>
              </a:lnSpc>
            </a:pPr>
            <a:r>
              <a:rPr sz="950" b="1">
                <a:solidFill>
                  <a:srgbClr val="A6ACBA"/>
                </a:solidFill>
                <a:latin typeface="Helvetica Neue"/>
              </a:rPr>
              <a:t>PREPARED FOR</a:t>
            </a:r>
          </a:p>
        </p:txBody>
      </p:sp>
      <p:sp>
        <p:nvSpPr>
          <p:cNvPr id="8" name="TextBox 7"/>
          <p:cNvSpPr txBox="1"/>
          <p:nvPr/>
        </p:nvSpPr>
        <p:spPr>
          <a:xfrm>
            <a:off x="685800" y="5541264"/>
            <a:ext cx="9601200" cy="274320"/>
          </a:xfrm>
          <a:prstGeom prst="rect">
            <a:avLst/>
          </a:prstGeom>
          <a:noFill/>
        </p:spPr>
        <p:txBody>
          <a:bodyPr wrap="square" anchor="t" lIns="0" rIns="0" tIns="0" bIns="0">
            <a:spAutoFit/>
          </a:bodyPr>
          <a:lstStyle/>
          <a:p>
            <a:pPr algn="l">
              <a:lnSpc>
                <a:spcPct val="115000"/>
              </a:lnSpc>
            </a:pPr>
            <a:r>
              <a:rPr sz="1300" b="0">
                <a:solidFill>
                  <a:srgbClr val="FFFFFF"/>
                </a:solidFill>
                <a:latin typeface="Helvetica Neue"/>
              </a:rPr>
              <a:t>Christian Prieto</a:t>
            </a:r>
          </a:p>
        </p:txBody>
      </p:sp>
      <p:sp>
        <p:nvSpPr>
          <p:cNvPr id="9" name="TextBox 8"/>
          <p:cNvSpPr txBox="1"/>
          <p:nvPr/>
        </p:nvSpPr>
        <p:spPr>
          <a:xfrm>
            <a:off x="685800" y="5760720"/>
            <a:ext cx="2926080" cy="201168"/>
          </a:xfrm>
          <a:prstGeom prst="rect">
            <a:avLst/>
          </a:prstGeom>
          <a:noFill/>
        </p:spPr>
        <p:txBody>
          <a:bodyPr wrap="square" anchor="t" lIns="0" rIns="0" tIns="0" bIns="0">
            <a:spAutoFit/>
          </a:bodyPr>
          <a:lstStyle/>
          <a:p>
            <a:pPr algn="l">
              <a:lnSpc>
                <a:spcPct val="115000"/>
              </a:lnSpc>
            </a:pPr>
            <a:r>
              <a:rPr sz="950" b="1">
                <a:solidFill>
                  <a:srgbClr val="A6ACBA"/>
                </a:solidFill>
                <a:latin typeface="Helvetica Neue"/>
              </a:rPr>
              <a:t>PREPARED BY</a:t>
            </a:r>
          </a:p>
        </p:txBody>
      </p:sp>
      <p:sp>
        <p:nvSpPr>
          <p:cNvPr id="10" name="TextBox 9"/>
          <p:cNvSpPr txBox="1"/>
          <p:nvPr/>
        </p:nvSpPr>
        <p:spPr>
          <a:xfrm>
            <a:off x="685800" y="5980176"/>
            <a:ext cx="9601200" cy="274320"/>
          </a:xfrm>
          <a:prstGeom prst="rect">
            <a:avLst/>
          </a:prstGeom>
          <a:noFill/>
        </p:spPr>
        <p:txBody>
          <a:bodyPr wrap="square" anchor="t" lIns="0" rIns="0" tIns="0" bIns="0">
            <a:spAutoFit/>
          </a:bodyPr>
          <a:lstStyle/>
          <a:p>
            <a:pPr algn="l">
              <a:lnSpc>
                <a:spcPct val="115000"/>
              </a:lnSpc>
            </a:pPr>
            <a:r>
              <a:rPr sz="1300" b="0">
                <a:solidFill>
                  <a:srgbClr val="FFFFFF"/>
                </a:solidFill>
                <a:latin typeface="Helvetica Neue"/>
              </a:rPr>
              <a:t>Joshua Bankole, Founder</a:t>
            </a:r>
          </a:p>
        </p:txBody>
      </p:sp>
      <p:sp>
        <p:nvSpPr>
          <p:cNvPr id="11" name="TextBox 10"/>
          <p:cNvSpPr txBox="1"/>
          <p:nvPr/>
        </p:nvSpPr>
        <p:spPr>
          <a:xfrm>
            <a:off x="685800" y="6199632"/>
            <a:ext cx="2926080" cy="201168"/>
          </a:xfrm>
          <a:prstGeom prst="rect">
            <a:avLst/>
          </a:prstGeom>
          <a:noFill/>
        </p:spPr>
        <p:txBody>
          <a:bodyPr wrap="square" anchor="t" lIns="0" rIns="0" tIns="0" bIns="0">
            <a:spAutoFit/>
          </a:bodyPr>
          <a:lstStyle/>
          <a:p>
            <a:pPr algn="l">
              <a:lnSpc>
                <a:spcPct val="115000"/>
              </a:lnSpc>
            </a:pPr>
            <a:r>
              <a:rPr sz="950" b="1">
                <a:solidFill>
                  <a:srgbClr val="A6ACBA"/>
                </a:solidFill>
                <a:latin typeface="Helvetica Neue"/>
              </a:rPr>
              <a:t>DOCUMENT</a:t>
            </a:r>
          </a:p>
        </p:txBody>
      </p:sp>
      <p:sp>
        <p:nvSpPr>
          <p:cNvPr id="12" name="TextBox 11"/>
          <p:cNvSpPr txBox="1"/>
          <p:nvPr/>
        </p:nvSpPr>
        <p:spPr>
          <a:xfrm>
            <a:off x="685800" y="6419088"/>
            <a:ext cx="9601200" cy="274320"/>
          </a:xfrm>
          <a:prstGeom prst="rect">
            <a:avLst/>
          </a:prstGeom>
          <a:noFill/>
        </p:spPr>
        <p:txBody>
          <a:bodyPr wrap="square" anchor="t" lIns="0" rIns="0" tIns="0" bIns="0">
            <a:spAutoFit/>
          </a:bodyPr>
          <a:lstStyle/>
          <a:p>
            <a:pPr algn="l">
              <a:lnSpc>
                <a:spcPct val="115000"/>
              </a:lnSpc>
            </a:pPr>
            <a:r>
              <a:rPr sz="1300" b="0">
                <a:solidFill>
                  <a:srgbClr val="FFFFFF"/>
                </a:solidFill>
                <a:latin typeface="Helvetica Neue"/>
              </a:rPr>
              <a:t>Onboarding presentation, companion to the Official Collaboration Agreement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7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286000"/>
            <a:ext cx="1828800" cy="1097280"/>
          </a:xfrm>
          <a:prstGeom prst="rect">
            <a:avLst/>
          </a:prstGeom>
          <a:noFill/>
        </p:spPr>
        <p:txBody>
          <a:bodyPr wrap="square" anchor="t" lIns="0" rIns="0" tIns="0" bIns="0">
            <a:spAutoFit/>
          </a:bodyPr>
          <a:lstStyle/>
          <a:p>
            <a:pPr algn="l">
              <a:lnSpc>
                <a:spcPct val="115000"/>
              </a:lnSpc>
            </a:pPr>
            <a:r>
              <a:rPr sz="6400" b="1">
                <a:solidFill>
                  <a:srgbClr val="4E9BF0"/>
                </a:solidFill>
                <a:latin typeface="Helvetica Neue"/>
              </a:rPr>
              <a:t>01</a:t>
            </a:r>
          </a:p>
        </p:txBody>
      </p:sp>
      <p:sp>
        <p:nvSpPr>
          <p:cNvPr id="4" name="TextBox 3"/>
          <p:cNvSpPr txBox="1"/>
          <p:nvPr/>
        </p:nvSpPr>
        <p:spPr>
          <a:xfrm>
            <a:off x="896112" y="21031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WELCOME</a:t>
            </a:r>
          </a:p>
        </p:txBody>
      </p:sp>
      <p:sp>
        <p:nvSpPr>
          <p:cNvPr id="5" name="TextBox 4"/>
          <p:cNvSpPr txBox="1"/>
          <p:nvPr/>
        </p:nvSpPr>
        <p:spPr>
          <a:xfrm>
            <a:off x="868680" y="3429000"/>
            <a:ext cx="9875520" cy="1097280"/>
          </a:xfrm>
          <a:prstGeom prst="rect">
            <a:avLst/>
          </a:prstGeom>
          <a:noFill/>
        </p:spPr>
        <p:txBody>
          <a:bodyPr wrap="square" anchor="t" lIns="0" rIns="0" tIns="0" bIns="0">
            <a:spAutoFit/>
          </a:bodyPr>
          <a:lstStyle/>
          <a:p>
            <a:pPr algn="l">
              <a:lnSpc>
                <a:spcPct val="115000"/>
              </a:lnSpc>
            </a:pPr>
            <a:r>
              <a:rPr sz="3400" b="1">
                <a:solidFill>
                  <a:srgbClr val="FFFFFF"/>
                </a:solidFill>
                <a:latin typeface="Helvetica Neue"/>
              </a:rPr>
              <a:t>You're officially part of Zebraish</a:t>
            </a:r>
          </a:p>
        </p:txBody>
      </p:sp>
      <p:sp>
        <p:nvSpPr>
          <p:cNvPr id="6" name="TextBox 5"/>
          <p:cNvSpPr txBox="1"/>
          <p:nvPr/>
        </p:nvSpPr>
        <p:spPr>
          <a:xfrm>
            <a:off x="868680" y="4251960"/>
            <a:ext cx="8412480" cy="1097280"/>
          </a:xfrm>
          <a:prstGeom prst="rect">
            <a:avLst/>
          </a:prstGeom>
          <a:noFill/>
        </p:spPr>
        <p:txBody>
          <a:bodyPr wrap="square" anchor="t" lIns="0" rIns="0" tIns="0" bIns="0">
            <a:spAutoFit/>
          </a:bodyPr>
          <a:lstStyle/>
          <a:p>
            <a:pPr algn="l">
              <a:lnSpc>
                <a:spcPct val="135000"/>
              </a:lnSpc>
            </a:pPr>
            <a:r>
              <a:rPr sz="1550" b="0">
                <a:solidFill>
                  <a:srgbClr val="A6ACBA"/>
                </a:solidFill>
                <a:latin typeface="Helvetica Neue"/>
              </a:rPr>
              <a:t>A quick welcome before we get into the details.</a:t>
            </a:r>
          </a:p>
        </p:txBody>
      </p:sp>
      <p:pic>
        <p:nvPicPr>
          <p:cNvPr id="7" name="Picture 6" descr="logo-head.png"/>
          <p:cNvPicPr>
            <a:picLocks noChangeAspect="1"/>
          </p:cNvPicPr>
          <p:nvPr/>
        </p:nvPicPr>
        <p:blipFill>
          <a:blip r:embed="rId2"/>
          <a:stretch>
            <a:fillRect/>
          </a:stretch>
        </p:blipFill>
        <p:spPr>
          <a:xfrm>
            <a:off x="685800" y="6382512"/>
            <a:ext cx="170028" cy="219456"/>
          </a:xfrm>
          <a:prstGeom prst="rect">
            <a:avLst/>
          </a:prstGeom>
        </p:spPr>
      </p:pic>
      <p:sp>
        <p:nvSpPr>
          <p:cNvPr id="8" name="TextBox 7"/>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9" name="TextBox 8"/>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Welcome   ·   02 / 20</a:t>
            </a:r>
          </a:p>
        </p:txBody>
      </p:sp>
      <p:cxnSp>
        <p:nvCxnSpPr>
          <p:cNvPr id="10" name="Connector 9"/>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WELCOME</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What is Zebraish?</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Zebraish is a brand and project built around two connected doors into the same world: Zebraish Studio and The Board on the technology side, and Zebraish Fashion on the creative side.</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Studio and The Board are where the tech and product work happens: building, prototyping, and shipping ideas. This is what's live right now, and it's what Zebraish is launching with.</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Fashion is the creative expression of the same brand: apparel and style built around a distinct, animal-inspired aesthetic. It's coming soon, but the product line isn't public yet.</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Both doors share one identity. Growing one grows the other.</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Welcome   ·   03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WELCOME</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Where you start: Zebraish Studio</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You're joining as Zebraish's Official Collaboration Partner, and right now, your job is Studio: representing it, building awareness for it, and actively bringing in customers for it, because that's what Zebraish is starting with.</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You don't need to be a tech person to do this well. Your audience trusts you. That's the asset. Point people toward Zebraish Studio, explain what it does in plain terms, and make the introduction.</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Fashion joins your role once the clothing line actually launches, which is coming soon. When it does, it'll likely be an even more natural fit for you, but the work starts with Studio.</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Welcome   ·   04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7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286000"/>
            <a:ext cx="1828800" cy="1097280"/>
          </a:xfrm>
          <a:prstGeom prst="rect">
            <a:avLst/>
          </a:prstGeom>
          <a:noFill/>
        </p:spPr>
        <p:txBody>
          <a:bodyPr wrap="square" anchor="t" lIns="0" rIns="0" tIns="0" bIns="0">
            <a:spAutoFit/>
          </a:bodyPr>
          <a:lstStyle/>
          <a:p>
            <a:pPr algn="l">
              <a:lnSpc>
                <a:spcPct val="115000"/>
              </a:lnSpc>
            </a:pPr>
            <a:r>
              <a:rPr sz="6400" b="1">
                <a:solidFill>
                  <a:srgbClr val="4E9BF0"/>
                </a:solidFill>
                <a:latin typeface="Helvetica Neue"/>
              </a:rPr>
              <a:t>02</a:t>
            </a:r>
          </a:p>
        </p:txBody>
      </p:sp>
      <p:sp>
        <p:nvSpPr>
          <p:cNvPr id="4" name="TextBox 3"/>
          <p:cNvSpPr txBox="1"/>
          <p:nvPr/>
        </p:nvSpPr>
        <p:spPr>
          <a:xfrm>
            <a:off x="896112" y="21031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YOUR ROLE</a:t>
            </a:r>
          </a:p>
        </p:txBody>
      </p:sp>
      <p:sp>
        <p:nvSpPr>
          <p:cNvPr id="5" name="TextBox 4"/>
          <p:cNvSpPr txBox="1"/>
          <p:nvPr/>
        </p:nvSpPr>
        <p:spPr>
          <a:xfrm>
            <a:off x="868680" y="3429000"/>
            <a:ext cx="9875520" cy="1097280"/>
          </a:xfrm>
          <a:prstGeom prst="rect">
            <a:avLst/>
          </a:prstGeom>
          <a:noFill/>
        </p:spPr>
        <p:txBody>
          <a:bodyPr wrap="square" anchor="t" lIns="0" rIns="0" tIns="0" bIns="0">
            <a:spAutoFit/>
          </a:bodyPr>
          <a:lstStyle/>
          <a:p>
            <a:pPr algn="l">
              <a:lnSpc>
                <a:spcPct val="115000"/>
              </a:lnSpc>
            </a:pPr>
            <a:r>
              <a:rPr sz="3400" b="1">
                <a:solidFill>
                  <a:srgbClr val="FFFFFF"/>
                </a:solidFill>
                <a:latin typeface="Helvetica Neue"/>
              </a:rPr>
              <a:t>What you're signing up for</a:t>
            </a:r>
          </a:p>
        </p:txBody>
      </p:sp>
      <p:sp>
        <p:nvSpPr>
          <p:cNvPr id="6" name="TextBox 5"/>
          <p:cNvSpPr txBox="1"/>
          <p:nvPr/>
        </p:nvSpPr>
        <p:spPr>
          <a:xfrm>
            <a:off x="868680" y="4251960"/>
            <a:ext cx="8412480" cy="1097280"/>
          </a:xfrm>
          <a:prstGeom prst="rect">
            <a:avLst/>
          </a:prstGeom>
          <a:noFill/>
        </p:spPr>
        <p:txBody>
          <a:bodyPr wrap="square" anchor="t" lIns="0" rIns="0" tIns="0" bIns="0">
            <a:spAutoFit/>
          </a:bodyPr>
          <a:lstStyle/>
          <a:p>
            <a:pPr algn="l">
              <a:lnSpc>
                <a:spcPct val="135000"/>
              </a:lnSpc>
            </a:pPr>
            <a:r>
              <a:rPr sz="1550" b="0">
                <a:solidFill>
                  <a:srgbClr val="A6ACBA"/>
                </a:solidFill>
                <a:latin typeface="Helvetica Neue"/>
              </a:rPr>
              <a:t>Position, responsibilities, and what "good" looks like.</a:t>
            </a:r>
          </a:p>
        </p:txBody>
      </p:sp>
      <p:pic>
        <p:nvPicPr>
          <p:cNvPr id="7" name="Picture 6" descr="logo-head.png"/>
          <p:cNvPicPr>
            <a:picLocks noChangeAspect="1"/>
          </p:cNvPicPr>
          <p:nvPr/>
        </p:nvPicPr>
        <p:blipFill>
          <a:blip r:embed="rId2"/>
          <a:stretch>
            <a:fillRect/>
          </a:stretch>
        </p:blipFill>
        <p:spPr>
          <a:xfrm>
            <a:off x="685800" y="6382512"/>
            <a:ext cx="170028" cy="219456"/>
          </a:xfrm>
          <a:prstGeom prst="rect">
            <a:avLst/>
          </a:prstGeom>
        </p:spPr>
      </p:pic>
      <p:sp>
        <p:nvSpPr>
          <p:cNvPr id="8" name="TextBox 7"/>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9" name="TextBox 8"/>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Your Role   ·   05 / 20</a:t>
            </a:r>
          </a:p>
        </p:txBody>
      </p:sp>
      <p:cxnSp>
        <p:nvCxnSpPr>
          <p:cNvPr id="10" name="Connector 9"/>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YOUR ROLE</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Your position</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Position: Zebraish Official Collaboration Partner.</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Current focus: promoting Zebraish Studio and bringing in customers for it. That's the priority for the length of this Term.</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Non-exclusive: you're free to work with, promote, or represent other brands during the Term, as long as it doesn't conflict with your Zebraish obligations.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Initial Term: 3 months from the date you both sign, renewable by mutual written agreement.</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You represent Zebraish, build brand awareness, create content, and introduce potential clients, all detailed in the Agreement itself.</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Your Role   ·   06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YOUR ROLE</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Outreach responsibilities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Proactively identify and approach potential Zebraish Studio clients within your own network and audience (anyone who could use what Studio builds) through DMs, in-person introductions, social engagement, whatever fits.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Represent Zebraish's offering accurately when you do.</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Direct anyone interested to Joshua directly, or to the Zebraish Project &amp; Payment Portal once it's live, so a project gets opened properly.</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This is the core of how commission gets generated: outreach is part of the job, not an optional extra.</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Your Role   ·   07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YOUR ROLE</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15000"/>
              </a:lnSpc>
            </a:pPr>
            <a:r>
              <a:rPr sz="2700" b="1">
                <a:solidFill>
                  <a:srgbClr val="FFFFFF"/>
                </a:solidFill>
                <a:latin typeface="Helvetica Neue"/>
              </a:rPr>
              <a:t>Social media minimums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783080"/>
            <a:ext cx="10332720" cy="320040"/>
          </a:xfrm>
          <a:prstGeom prst="rect">
            <a:avLst/>
          </a:prstGeom>
          <a:noFill/>
        </p:spPr>
        <p:txBody>
          <a:bodyPr wrap="square" anchor="t" lIns="0" rIns="0" tIns="0" bIns="0">
            <a:spAutoFit/>
          </a:bodyPr>
          <a:lstStyle/>
          <a:p>
            <a:pPr algn="l">
              <a:lnSpc>
                <a:spcPct val="115000"/>
              </a:lnSpc>
            </a:pPr>
            <a:r>
              <a:rPr sz="1250" b="0">
                <a:solidFill>
                  <a:srgbClr val="A6ACBA"/>
                </a:solidFill>
                <a:latin typeface="Helvetica Neue"/>
              </a:rPr>
              <a:t>Content focus is Zebraish Studio for now. Fashion content joins once the line launches.</a:t>
            </a:r>
          </a:p>
        </p:txBody>
      </p:sp>
      <p:sp>
        <p:nvSpPr>
          <p:cNvPr id="6" name="Rectangle 5"/>
          <p:cNvSpPr/>
          <p:nvPr/>
        </p:nvSpPr>
        <p:spPr>
          <a:xfrm>
            <a:off x="685800" y="2212848"/>
            <a:ext cx="10817352" cy="621792"/>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22576"/>
            <a:ext cx="4846320"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Deliverable</a:t>
            </a:r>
          </a:p>
        </p:txBody>
      </p:sp>
      <p:sp>
        <p:nvSpPr>
          <p:cNvPr id="8" name="TextBox 7"/>
          <p:cNvSpPr txBox="1"/>
          <p:nvPr/>
        </p:nvSpPr>
        <p:spPr>
          <a:xfrm>
            <a:off x="5989320" y="2322576"/>
            <a:ext cx="5422392"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Requirement</a:t>
            </a:r>
          </a:p>
        </p:txBody>
      </p:sp>
      <p:sp>
        <p:nvSpPr>
          <p:cNvPr id="9" name="Rectangle 8"/>
          <p:cNvSpPr/>
          <p:nvPr/>
        </p:nvSpPr>
        <p:spPr>
          <a:xfrm>
            <a:off x="685800" y="2834640"/>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26080"/>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Instagram posts / Reels</a:t>
            </a:r>
          </a:p>
        </p:txBody>
      </p:sp>
      <p:sp>
        <p:nvSpPr>
          <p:cNvPr id="11" name="TextBox 10"/>
          <p:cNvSpPr txBox="1"/>
          <p:nvPr/>
        </p:nvSpPr>
        <p:spPr>
          <a:xfrm>
            <a:off x="5989320" y="2926080"/>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2 per week</a:t>
            </a:r>
          </a:p>
        </p:txBody>
      </p:sp>
      <p:sp>
        <p:nvSpPr>
          <p:cNvPr id="12" name="Rectangle 11"/>
          <p:cNvSpPr/>
          <p:nvPr/>
        </p:nvSpPr>
        <p:spPr>
          <a:xfrm>
            <a:off x="685800" y="3456432"/>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47872"/>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Instagram Stories</a:t>
            </a:r>
          </a:p>
        </p:txBody>
      </p:sp>
      <p:sp>
        <p:nvSpPr>
          <p:cNvPr id="14" name="TextBox 13"/>
          <p:cNvSpPr txBox="1"/>
          <p:nvPr/>
        </p:nvSpPr>
        <p:spPr>
          <a:xfrm>
            <a:off x="5989320" y="3547872"/>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3 per week</a:t>
            </a:r>
          </a:p>
        </p:txBody>
      </p:sp>
      <p:sp>
        <p:nvSpPr>
          <p:cNvPr id="15" name="Rectangle 14"/>
          <p:cNvSpPr/>
          <p:nvPr/>
        </p:nvSpPr>
        <p:spPr>
          <a:xfrm>
            <a:off x="685800" y="4078224"/>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69664"/>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TikTok videos</a:t>
            </a:r>
          </a:p>
        </p:txBody>
      </p:sp>
      <p:sp>
        <p:nvSpPr>
          <p:cNvPr id="17" name="TextBox 16"/>
          <p:cNvSpPr txBox="1"/>
          <p:nvPr/>
        </p:nvSpPr>
        <p:spPr>
          <a:xfrm>
            <a:off x="5989320" y="4169664"/>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1 per week</a:t>
            </a:r>
          </a:p>
        </p:txBody>
      </p:sp>
      <p:sp>
        <p:nvSpPr>
          <p:cNvPr id="18" name="Rectangle 17"/>
          <p:cNvSpPr/>
          <p:nvPr/>
        </p:nvSpPr>
        <p:spPr>
          <a:xfrm>
            <a:off x="685800" y="4700016"/>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791456"/>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Campaign participation</a:t>
            </a:r>
          </a:p>
        </p:txBody>
      </p:sp>
      <p:sp>
        <p:nvSpPr>
          <p:cNvPr id="20" name="TextBox 19"/>
          <p:cNvSpPr txBox="1"/>
          <p:nvPr/>
        </p:nvSpPr>
        <p:spPr>
          <a:xfrm>
            <a:off x="5989320" y="4791456"/>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As reasonably requested</a:t>
            </a:r>
          </a:p>
        </p:txBody>
      </p:sp>
      <p:sp>
        <p:nvSpPr>
          <p:cNvPr id="21" name="Rectangle 20"/>
          <p:cNvSpPr/>
          <p:nvPr/>
        </p:nvSpPr>
        <p:spPr>
          <a:xfrm>
            <a:off x="685800" y="5321808"/>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413248"/>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Content approval</a:t>
            </a:r>
          </a:p>
        </p:txBody>
      </p:sp>
      <p:sp>
        <p:nvSpPr>
          <p:cNvPr id="23" name="TextBox 22"/>
          <p:cNvSpPr txBox="1"/>
          <p:nvPr/>
        </p:nvSpPr>
        <p:spPr>
          <a:xfrm>
            <a:off x="5989320" y="5413248"/>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Required in advance only for specific flagged campaigns</a:t>
            </a:r>
          </a:p>
        </p:txBody>
      </p:sp>
      <p:cxnSp>
        <p:nvCxnSpPr>
          <p:cNvPr id="24" name="Connector 23"/>
          <p:cNvCxnSpPr/>
          <p:nvPr/>
        </p:nvCxnSpPr>
        <p:spPr>
          <a:xfrm>
            <a:off x="685800" y="2212848"/>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pic>
        <p:nvPicPr>
          <p:cNvPr id="25" name="Picture 24" descr="logo-head.png"/>
          <p:cNvPicPr>
            <a:picLocks noChangeAspect="1"/>
          </p:cNvPicPr>
          <p:nvPr/>
        </p:nvPicPr>
        <p:blipFill>
          <a:blip r:embed="rId2"/>
          <a:stretch>
            <a:fillRect/>
          </a:stretch>
        </p:blipFill>
        <p:spPr>
          <a:xfrm>
            <a:off x="685800" y="6382512"/>
            <a:ext cx="170028" cy="219456"/>
          </a:xfrm>
          <a:prstGeom prst="rect">
            <a:avLst/>
          </a:prstGeom>
        </p:spPr>
      </p:pic>
      <p:sp>
        <p:nvSpPr>
          <p:cNvPr id="26" name="TextBox 25"/>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27" name="TextBox 26"/>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Your Role   ·   08 / 20</a:t>
            </a:r>
          </a:p>
        </p:txBody>
      </p:sp>
      <p:cxnSp>
        <p:nvCxnSpPr>
          <p:cNvPr id="28" name="Connector 27"/>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7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286000"/>
            <a:ext cx="1828800" cy="1097280"/>
          </a:xfrm>
          <a:prstGeom prst="rect">
            <a:avLst/>
          </a:prstGeom>
          <a:noFill/>
        </p:spPr>
        <p:txBody>
          <a:bodyPr wrap="square" anchor="t" lIns="0" rIns="0" tIns="0" bIns="0">
            <a:spAutoFit/>
          </a:bodyPr>
          <a:lstStyle/>
          <a:p>
            <a:pPr algn="l">
              <a:lnSpc>
                <a:spcPct val="115000"/>
              </a:lnSpc>
            </a:pPr>
            <a:r>
              <a:rPr sz="6400" b="1">
                <a:solidFill>
                  <a:srgbClr val="4E9BF0"/>
                </a:solidFill>
                <a:latin typeface="Helvetica Neue"/>
              </a:rPr>
              <a:t>03</a:t>
            </a:r>
          </a:p>
        </p:txBody>
      </p:sp>
      <p:sp>
        <p:nvSpPr>
          <p:cNvPr id="4" name="TextBox 3"/>
          <p:cNvSpPr txBox="1"/>
          <p:nvPr/>
        </p:nvSpPr>
        <p:spPr>
          <a:xfrm>
            <a:off x="896112" y="21031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COMMISSION &amp; PAYMENTS</a:t>
            </a:r>
          </a:p>
        </p:txBody>
      </p:sp>
      <p:sp>
        <p:nvSpPr>
          <p:cNvPr id="5" name="TextBox 4"/>
          <p:cNvSpPr txBox="1"/>
          <p:nvPr/>
        </p:nvSpPr>
        <p:spPr>
          <a:xfrm>
            <a:off x="868680" y="3429000"/>
            <a:ext cx="9875520" cy="1097280"/>
          </a:xfrm>
          <a:prstGeom prst="rect">
            <a:avLst/>
          </a:prstGeom>
          <a:noFill/>
        </p:spPr>
        <p:txBody>
          <a:bodyPr wrap="square" anchor="t" lIns="0" rIns="0" tIns="0" bIns="0">
            <a:spAutoFit/>
          </a:bodyPr>
          <a:lstStyle/>
          <a:p>
            <a:pPr algn="l">
              <a:lnSpc>
                <a:spcPct val="115000"/>
              </a:lnSpc>
            </a:pPr>
            <a:r>
              <a:rPr sz="3400" b="1">
                <a:solidFill>
                  <a:srgbClr val="FFFFFF"/>
                </a:solidFill>
                <a:latin typeface="Helvetica Neue"/>
              </a:rPr>
              <a:t>How money moves</a:t>
            </a:r>
          </a:p>
        </p:txBody>
      </p:sp>
      <p:sp>
        <p:nvSpPr>
          <p:cNvPr id="6" name="TextBox 5"/>
          <p:cNvSpPr txBox="1"/>
          <p:nvPr/>
        </p:nvSpPr>
        <p:spPr>
          <a:xfrm>
            <a:off x="868680" y="4251960"/>
            <a:ext cx="8412480" cy="1097280"/>
          </a:xfrm>
          <a:prstGeom prst="rect">
            <a:avLst/>
          </a:prstGeom>
          <a:noFill/>
        </p:spPr>
        <p:txBody>
          <a:bodyPr wrap="square" anchor="t" lIns="0" rIns="0" tIns="0" bIns="0">
            <a:spAutoFit/>
          </a:bodyPr>
          <a:lstStyle/>
          <a:p>
            <a:pPr algn="l">
              <a:lnSpc>
                <a:spcPct val="135000"/>
              </a:lnSpc>
            </a:pPr>
            <a:r>
              <a:rPr sz="1550" b="0">
                <a:solidFill>
                  <a:srgbClr val="A6ACBA"/>
                </a:solidFill>
                <a:latin typeface="Helvetica Neue"/>
              </a:rPr>
              <a:t>Client introductions, commission, and the weekly payout, in plain terms.</a:t>
            </a:r>
          </a:p>
        </p:txBody>
      </p:sp>
      <p:pic>
        <p:nvPicPr>
          <p:cNvPr id="7" name="Picture 6" descr="logo-head.png"/>
          <p:cNvPicPr>
            <a:picLocks noChangeAspect="1"/>
          </p:cNvPicPr>
          <p:nvPr/>
        </p:nvPicPr>
        <p:blipFill>
          <a:blip r:embed="rId2"/>
          <a:stretch>
            <a:fillRect/>
          </a:stretch>
        </p:blipFill>
        <p:spPr>
          <a:xfrm>
            <a:off x="685800" y="6382512"/>
            <a:ext cx="170028" cy="219456"/>
          </a:xfrm>
          <a:prstGeom prst="rect">
            <a:avLst/>
          </a:prstGeom>
        </p:spPr>
      </p:pic>
      <p:sp>
        <p:nvSpPr>
          <p:cNvPr id="8" name="TextBox 7"/>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9" name="TextBox 8"/>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Commission &amp; Payments   ·   09 / 20</a:t>
            </a:r>
          </a:p>
        </p:txBody>
      </p:sp>
      <p:cxnSp>
        <p:nvCxnSpPr>
          <p:cNvPr id="10" name="Connector 9"/>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COMMISSION &amp; PAYMENTS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Client introductions: no referral code needed</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When you introduce a client, the project gets opened through the Zebraish Project &amp; Payment Portal (or you just tell Joshua directly and he opens it), and it gets a unique Project ID, like ZB-00017.</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There's no personal referral code or link to manage or share.</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Commission isn't calculated by matching individual clients to you: it's based on all qualifying Zebraish payments received during your Term.</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Commission &amp; Payments   ·   10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COMMISSION &amp; PAYMENTS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15000"/>
              </a:lnSpc>
            </a:pPr>
            <a:r>
              <a:rPr sz="2700" b="1">
                <a:solidFill>
                  <a:srgbClr val="FFFFFF"/>
                </a:solidFill>
                <a:latin typeface="Helvetica Neue"/>
              </a:rPr>
              <a:t>Commission, at a glance</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2148840"/>
            <a:ext cx="3605784" cy="1280160"/>
          </a:xfrm>
          <a:prstGeom prst="rect">
            <a:avLst/>
          </a:prstGeom>
          <a:noFill/>
        </p:spPr>
        <p:txBody>
          <a:bodyPr wrap="square" anchor="t" lIns="0" rIns="0" tIns="0" bIns="0">
            <a:spAutoFit/>
          </a:bodyPr>
          <a:lstStyle/>
          <a:p>
            <a:pPr algn="l">
              <a:lnSpc>
                <a:spcPct val="115000"/>
              </a:lnSpc>
            </a:pPr>
            <a:r>
              <a:rPr sz="4600" b="1">
                <a:solidFill>
                  <a:srgbClr val="4E9BF0"/>
                </a:solidFill>
                <a:latin typeface="Helvetica Neue"/>
              </a:rPr>
              <a:t>10%</a:t>
            </a:r>
          </a:p>
        </p:txBody>
      </p:sp>
      <p:sp>
        <p:nvSpPr>
          <p:cNvPr id="6" name="TextBox 5"/>
          <p:cNvSpPr txBox="1"/>
          <p:nvPr/>
        </p:nvSpPr>
        <p:spPr>
          <a:xfrm>
            <a:off x="685800" y="3246120"/>
            <a:ext cx="3285744" cy="822960"/>
          </a:xfrm>
          <a:prstGeom prst="rect">
            <a:avLst/>
          </a:prstGeom>
          <a:noFill/>
        </p:spPr>
        <p:txBody>
          <a:bodyPr wrap="square" anchor="t" lIns="0" rIns="0" tIns="0" bIns="0">
            <a:spAutoFit/>
          </a:bodyPr>
          <a:lstStyle/>
          <a:p>
            <a:pPr algn="l">
              <a:lnSpc>
                <a:spcPct val="130000"/>
              </a:lnSpc>
            </a:pPr>
            <a:r>
              <a:rPr sz="1350" b="0">
                <a:solidFill>
                  <a:srgbClr val="A6ACBA"/>
                </a:solidFill>
                <a:latin typeface="Helvetica Neue"/>
              </a:rPr>
              <a:t>of all qualifying Zebraish client payments received during your Term</a:t>
            </a:r>
          </a:p>
        </p:txBody>
      </p:sp>
      <p:sp>
        <p:nvSpPr>
          <p:cNvPr id="7" name="TextBox 6"/>
          <p:cNvSpPr txBox="1"/>
          <p:nvPr/>
        </p:nvSpPr>
        <p:spPr>
          <a:xfrm>
            <a:off x="4291584" y="2148840"/>
            <a:ext cx="3605784" cy="1280160"/>
          </a:xfrm>
          <a:prstGeom prst="rect">
            <a:avLst/>
          </a:prstGeom>
          <a:noFill/>
        </p:spPr>
        <p:txBody>
          <a:bodyPr wrap="square" anchor="t" lIns="0" rIns="0" tIns="0" bIns="0">
            <a:spAutoFit/>
          </a:bodyPr>
          <a:lstStyle/>
          <a:p>
            <a:pPr algn="l">
              <a:lnSpc>
                <a:spcPct val="115000"/>
              </a:lnSpc>
            </a:pPr>
            <a:r>
              <a:rPr sz="4600" b="1">
                <a:solidFill>
                  <a:srgbClr val="4E9BF0"/>
                </a:solidFill>
                <a:latin typeface="Helvetica Neue"/>
              </a:rPr>
              <a:t>Weekly</a:t>
            </a:r>
          </a:p>
        </p:txBody>
      </p:sp>
      <p:sp>
        <p:nvSpPr>
          <p:cNvPr id="8" name="TextBox 7"/>
          <p:cNvSpPr txBox="1"/>
          <p:nvPr/>
        </p:nvSpPr>
        <p:spPr>
          <a:xfrm>
            <a:off x="4291584" y="3246120"/>
            <a:ext cx="3285744" cy="822960"/>
          </a:xfrm>
          <a:prstGeom prst="rect">
            <a:avLst/>
          </a:prstGeom>
          <a:noFill/>
        </p:spPr>
        <p:txBody>
          <a:bodyPr wrap="square" anchor="t" lIns="0" rIns="0" tIns="0" bIns="0">
            <a:spAutoFit/>
          </a:bodyPr>
          <a:lstStyle/>
          <a:p>
            <a:pPr algn="l">
              <a:lnSpc>
                <a:spcPct val="130000"/>
              </a:lnSpc>
            </a:pPr>
            <a:r>
              <a:rPr sz="1350" b="0">
                <a:solidFill>
                  <a:srgbClr val="A6ACBA"/>
                </a:solidFill>
                <a:latin typeface="Helvetica Neue"/>
              </a:rPr>
              <a:t>commission is calculated and paid every single week</a:t>
            </a:r>
          </a:p>
        </p:txBody>
      </p:sp>
      <p:sp>
        <p:nvSpPr>
          <p:cNvPr id="9" name="TextBox 8"/>
          <p:cNvSpPr txBox="1"/>
          <p:nvPr/>
        </p:nvSpPr>
        <p:spPr>
          <a:xfrm>
            <a:off x="7897368" y="2148840"/>
            <a:ext cx="3605784" cy="1280160"/>
          </a:xfrm>
          <a:prstGeom prst="rect">
            <a:avLst/>
          </a:prstGeom>
          <a:noFill/>
        </p:spPr>
        <p:txBody>
          <a:bodyPr wrap="square" anchor="t" lIns="0" rIns="0" tIns="0" bIns="0">
            <a:spAutoFit/>
          </a:bodyPr>
          <a:lstStyle/>
          <a:p>
            <a:pPr algn="l">
              <a:lnSpc>
                <a:spcPct val="115000"/>
              </a:lnSpc>
            </a:pPr>
            <a:r>
              <a:rPr sz="4600" b="1">
                <a:solidFill>
                  <a:srgbClr val="4E9BF0"/>
                </a:solidFill>
                <a:latin typeface="Helvetica Neue"/>
              </a:rPr>
              <a:t>Sunday</a:t>
            </a:r>
          </a:p>
        </p:txBody>
      </p:sp>
      <p:sp>
        <p:nvSpPr>
          <p:cNvPr id="10" name="TextBox 9"/>
          <p:cNvSpPr txBox="1"/>
          <p:nvPr/>
        </p:nvSpPr>
        <p:spPr>
          <a:xfrm>
            <a:off x="7897368" y="3246120"/>
            <a:ext cx="3285744" cy="822960"/>
          </a:xfrm>
          <a:prstGeom prst="rect">
            <a:avLst/>
          </a:prstGeom>
          <a:noFill/>
        </p:spPr>
        <p:txBody>
          <a:bodyPr wrap="square" anchor="t" lIns="0" rIns="0" tIns="0" bIns="0">
            <a:spAutoFit/>
          </a:bodyPr>
          <a:lstStyle/>
          <a:p>
            <a:pPr algn="l">
              <a:lnSpc>
                <a:spcPct val="130000"/>
              </a:lnSpc>
            </a:pPr>
            <a:r>
              <a:rPr sz="1350" b="0">
                <a:solidFill>
                  <a:srgbClr val="A6ACBA"/>
                </a:solidFill>
                <a:latin typeface="Helvetica Neue"/>
              </a:rPr>
              <a:t>payout day, reviewed and sent by bank transfer</a:t>
            </a:r>
          </a:p>
        </p:txBody>
      </p:sp>
      <p:sp>
        <p:nvSpPr>
          <p:cNvPr id="11" name="Rectangle 10"/>
          <p:cNvSpPr/>
          <p:nvPr/>
        </p:nvSpPr>
        <p:spPr>
          <a:xfrm>
            <a:off x="685800" y="5029200"/>
            <a:ext cx="10817352" cy="18288"/>
          </a:xfrm>
          <a:prstGeom prst="rect">
            <a:avLst/>
          </a:prstGeom>
          <a:solidFill>
            <a:srgbClr val="2A2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212080"/>
            <a:ext cx="10332720" cy="1005840"/>
          </a:xfrm>
          <a:prstGeom prst="rect">
            <a:avLst/>
          </a:prstGeom>
          <a:noFill/>
        </p:spPr>
        <p:txBody>
          <a:bodyPr wrap="square" anchor="t" lIns="0" rIns="0" tIns="0" bIns="0">
            <a:spAutoFit/>
          </a:bodyPr>
          <a:lstStyle/>
          <a:p>
            <a:pPr algn="l">
              <a:lnSpc>
                <a:spcPct val="135000"/>
              </a:lnSpc>
            </a:pPr>
            <a:r>
              <a:rPr sz="1400" b="0">
                <a:solidFill>
                  <a:srgbClr val="FFFFFF"/>
                </a:solidFill>
                <a:latin typeface="Helvetica Neue"/>
              </a:rPr>
              <a:t>No arbitrary cap on what you can earn, and no fixed salary: compensation is commission-based for the Initial Term.</a:t>
            </a:r>
          </a:p>
        </p:txBody>
      </p:sp>
      <p:pic>
        <p:nvPicPr>
          <p:cNvPr id="13" name="Picture 12" descr="logo-head.png"/>
          <p:cNvPicPr>
            <a:picLocks noChangeAspect="1"/>
          </p:cNvPicPr>
          <p:nvPr/>
        </p:nvPicPr>
        <p:blipFill>
          <a:blip r:embed="rId2"/>
          <a:stretch>
            <a:fillRect/>
          </a:stretch>
        </p:blipFill>
        <p:spPr>
          <a:xfrm>
            <a:off x="685800" y="6382512"/>
            <a:ext cx="170028" cy="219456"/>
          </a:xfrm>
          <a:prstGeom prst="rect">
            <a:avLst/>
          </a:prstGeom>
        </p:spPr>
      </p:pic>
      <p:sp>
        <p:nvSpPr>
          <p:cNvPr id="14" name="TextBox 13"/>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15" name="TextBox 14"/>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Commission &amp; Payments   ·   11 / 20</a:t>
            </a:r>
          </a:p>
        </p:txBody>
      </p:sp>
      <p:cxnSp>
        <p:nvCxnSpPr>
          <p:cNvPr id="16" name="Connector 15"/>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COMMISSION &amp; PAYMENTS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15000"/>
              </a:lnSpc>
            </a:pPr>
            <a:r>
              <a:rPr sz="2700" b="1">
                <a:solidFill>
                  <a:srgbClr val="FFFFFF"/>
                </a:solidFill>
                <a:latin typeface="Helvetica Neue"/>
              </a:rPr>
              <a:t>Weekly payout: how it works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85800" y="1920240"/>
            <a:ext cx="10817352" cy="621792"/>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8"/>
            <a:ext cx="4846320"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Step</a:t>
            </a:r>
          </a:p>
        </p:txBody>
      </p:sp>
      <p:sp>
        <p:nvSpPr>
          <p:cNvPr id="7" name="TextBox 6"/>
          <p:cNvSpPr txBox="1"/>
          <p:nvPr/>
        </p:nvSpPr>
        <p:spPr>
          <a:xfrm>
            <a:off x="5989320" y="2029968"/>
            <a:ext cx="5422392"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What happens</a:t>
            </a:r>
          </a:p>
        </p:txBody>
      </p:sp>
      <p:sp>
        <p:nvSpPr>
          <p:cNvPr id="8" name="Rectangle 7"/>
          <p:cNvSpPr/>
          <p:nvPr/>
        </p:nvSpPr>
        <p:spPr>
          <a:xfrm>
            <a:off x="685800" y="2542032"/>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33472"/>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Sunday review</a:t>
            </a:r>
          </a:p>
        </p:txBody>
      </p:sp>
      <p:sp>
        <p:nvSpPr>
          <p:cNvPr id="10" name="TextBox 9"/>
          <p:cNvSpPr txBox="1"/>
          <p:nvPr/>
        </p:nvSpPr>
        <p:spPr>
          <a:xfrm>
            <a:off x="5989320" y="2633472"/>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Joshua totals every qualifying payment Zebraish received Mon–Sun.</a:t>
            </a:r>
          </a:p>
        </p:txBody>
      </p:sp>
      <p:sp>
        <p:nvSpPr>
          <p:cNvPr id="11" name="Rectangle 10"/>
          <p:cNvSpPr/>
          <p:nvPr/>
        </p:nvSpPr>
        <p:spPr>
          <a:xfrm>
            <a:off x="685800" y="3163824"/>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55264"/>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Calculation</a:t>
            </a:r>
          </a:p>
        </p:txBody>
      </p:sp>
      <p:sp>
        <p:nvSpPr>
          <p:cNvPr id="13" name="TextBox 12"/>
          <p:cNvSpPr txBox="1"/>
          <p:nvPr/>
        </p:nvSpPr>
        <p:spPr>
          <a:xfrm>
            <a:off x="5989320" y="3255264"/>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10% of that weekly total is your commission for the week.</a:t>
            </a:r>
          </a:p>
        </p:txBody>
      </p:sp>
      <p:sp>
        <p:nvSpPr>
          <p:cNvPr id="14" name="Rectangle 13"/>
          <p:cNvSpPr/>
          <p:nvPr/>
        </p:nvSpPr>
        <p:spPr>
          <a:xfrm>
            <a:off x="685800" y="3785616"/>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877056"/>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Payment</a:t>
            </a:r>
          </a:p>
        </p:txBody>
      </p:sp>
      <p:sp>
        <p:nvSpPr>
          <p:cNvPr id="16" name="TextBox 15"/>
          <p:cNvSpPr txBox="1"/>
          <p:nvPr/>
        </p:nvSpPr>
        <p:spPr>
          <a:xfrm>
            <a:off x="5989320" y="3877056"/>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Sent by bank transfer the same day, or the next business day if a Sunday transfer isn't possible.</a:t>
            </a:r>
          </a:p>
        </p:txBody>
      </p:sp>
      <p:sp>
        <p:nvSpPr>
          <p:cNvPr id="17" name="Rectangle 16"/>
          <p:cNvSpPr/>
          <p:nvPr/>
        </p:nvSpPr>
        <p:spPr>
          <a:xfrm>
            <a:off x="685800" y="4407408"/>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98848"/>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Exclusions</a:t>
            </a:r>
          </a:p>
        </p:txBody>
      </p:sp>
      <p:sp>
        <p:nvSpPr>
          <p:cNvPr id="19" name="TextBox 18"/>
          <p:cNvSpPr txBox="1"/>
          <p:nvPr/>
        </p:nvSpPr>
        <p:spPr>
          <a:xfrm>
            <a:off x="5989320" y="4498848"/>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Refunds, chargebacks, cancelled or fraudulent orders don't count.</a:t>
            </a:r>
          </a:p>
        </p:txBody>
      </p:sp>
      <p:sp>
        <p:nvSpPr>
          <p:cNvPr id="20" name="Rectangle 19"/>
          <p:cNvSpPr/>
          <p:nvPr/>
        </p:nvSpPr>
        <p:spPr>
          <a:xfrm>
            <a:off x="685800" y="5029200"/>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20640"/>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Example</a:t>
            </a:r>
          </a:p>
        </p:txBody>
      </p:sp>
      <p:sp>
        <p:nvSpPr>
          <p:cNvPr id="22" name="TextBox 21"/>
          <p:cNvSpPr txBox="1"/>
          <p:nvPr/>
        </p:nvSpPr>
        <p:spPr>
          <a:xfrm>
            <a:off x="5989320" y="5120640"/>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₦485,000 in qualifying payments that week → ₦48,500 commission paid to you that Sunday.</a:t>
            </a:r>
          </a:p>
        </p:txBody>
      </p:sp>
      <p:cxnSp>
        <p:nvCxnSpPr>
          <p:cNvPr id="23" name="Connector 22"/>
          <p:cNvCxnSpPr/>
          <p:nvPr/>
        </p:nvCxnSpPr>
        <p:spPr>
          <a:xfrm>
            <a:off x="685800" y="19202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pic>
        <p:nvPicPr>
          <p:cNvPr id="24" name="Picture 23" descr="logo-head.png"/>
          <p:cNvPicPr>
            <a:picLocks noChangeAspect="1"/>
          </p:cNvPicPr>
          <p:nvPr/>
        </p:nvPicPr>
        <p:blipFill>
          <a:blip r:embed="rId2"/>
          <a:stretch>
            <a:fillRect/>
          </a:stretch>
        </p:blipFill>
        <p:spPr>
          <a:xfrm>
            <a:off x="685800" y="6382512"/>
            <a:ext cx="170028" cy="219456"/>
          </a:xfrm>
          <a:prstGeom prst="rect">
            <a:avLst/>
          </a:prstGeom>
        </p:spPr>
      </p:pic>
      <p:sp>
        <p:nvSpPr>
          <p:cNvPr id="25" name="TextBox 24"/>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26" name="TextBox 25"/>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Commission &amp; Payments   ·   12 / 20</a:t>
            </a:r>
          </a:p>
        </p:txBody>
      </p:sp>
      <p:cxnSp>
        <p:nvCxnSpPr>
          <p:cNvPr id="27" name="Connector 26"/>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COMMISSION &amp; PAYMENTS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Your Collaborator Dashboard</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A private view of your weekly commission: Project IDs, amounts, and PAID / PENDING status.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You'll see enough to verify every payment is calculated correctly, without Zebraish's client contact details being exposed to you.</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This is being built alongside the Project Portal. Joshua will confirm once it's live; a written weekly summary works as a bridge until then.</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Commission &amp; Payments   ·   13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720"/>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286000"/>
            <a:ext cx="1828800" cy="1097280"/>
          </a:xfrm>
          <a:prstGeom prst="rect">
            <a:avLst/>
          </a:prstGeom>
          <a:noFill/>
        </p:spPr>
        <p:txBody>
          <a:bodyPr wrap="square" anchor="t" lIns="0" rIns="0" tIns="0" bIns="0">
            <a:spAutoFit/>
          </a:bodyPr>
          <a:lstStyle/>
          <a:p>
            <a:pPr algn="l">
              <a:lnSpc>
                <a:spcPct val="115000"/>
              </a:lnSpc>
            </a:pPr>
            <a:r>
              <a:rPr sz="6400" b="1">
                <a:solidFill>
                  <a:srgbClr val="4E9BF0"/>
                </a:solidFill>
                <a:latin typeface="Helvetica Neue"/>
              </a:rPr>
              <a:t>04</a:t>
            </a:r>
          </a:p>
        </p:txBody>
      </p:sp>
      <p:sp>
        <p:nvSpPr>
          <p:cNvPr id="4" name="TextBox 3"/>
          <p:cNvSpPr txBox="1"/>
          <p:nvPr/>
        </p:nvSpPr>
        <p:spPr>
          <a:xfrm>
            <a:off x="896112" y="21031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5" name="TextBox 4"/>
          <p:cNvSpPr txBox="1"/>
          <p:nvPr/>
        </p:nvSpPr>
        <p:spPr>
          <a:xfrm>
            <a:off x="868680" y="3429000"/>
            <a:ext cx="9875520" cy="1097280"/>
          </a:xfrm>
          <a:prstGeom prst="rect">
            <a:avLst/>
          </a:prstGeom>
          <a:noFill/>
        </p:spPr>
        <p:txBody>
          <a:bodyPr wrap="square" anchor="t" lIns="0" rIns="0" tIns="0" bIns="0">
            <a:spAutoFit/>
          </a:bodyPr>
          <a:lstStyle/>
          <a:p>
            <a:pPr algn="l">
              <a:lnSpc>
                <a:spcPct val="115000"/>
              </a:lnSpc>
            </a:pPr>
            <a:r>
              <a:rPr sz="3400" b="1">
                <a:solidFill>
                  <a:srgbClr val="FFFFFF"/>
                </a:solidFill>
                <a:latin typeface="Helvetica Neue"/>
              </a:rPr>
              <a:t>The fine print, made readable</a:t>
            </a:r>
          </a:p>
        </p:txBody>
      </p:sp>
      <p:sp>
        <p:nvSpPr>
          <p:cNvPr id="6" name="TextBox 5"/>
          <p:cNvSpPr txBox="1"/>
          <p:nvPr/>
        </p:nvSpPr>
        <p:spPr>
          <a:xfrm>
            <a:off x="868680" y="4251960"/>
            <a:ext cx="8412480" cy="1097280"/>
          </a:xfrm>
          <a:prstGeom prst="rect">
            <a:avLst/>
          </a:prstGeom>
          <a:noFill/>
        </p:spPr>
        <p:txBody>
          <a:bodyPr wrap="square" anchor="t" lIns="0" rIns="0" tIns="0" bIns="0">
            <a:spAutoFit/>
          </a:bodyPr>
          <a:lstStyle/>
          <a:p>
            <a:pPr algn="l">
              <a:lnSpc>
                <a:spcPct val="135000"/>
              </a:lnSpc>
            </a:pPr>
            <a:r>
              <a:rPr sz="1550" b="0">
                <a:solidFill>
                  <a:srgbClr val="A6ACBA"/>
                </a:solidFill>
                <a:latin typeface="Helvetica Neue"/>
              </a:rPr>
              <a:t>Brand guidelines, content rights, and how the Term works.</a:t>
            </a:r>
          </a:p>
        </p:txBody>
      </p:sp>
      <p:pic>
        <p:nvPicPr>
          <p:cNvPr id="7" name="Picture 6" descr="logo-head.png"/>
          <p:cNvPicPr>
            <a:picLocks noChangeAspect="1"/>
          </p:cNvPicPr>
          <p:nvPr/>
        </p:nvPicPr>
        <p:blipFill>
          <a:blip r:embed="rId2"/>
          <a:stretch>
            <a:fillRect/>
          </a:stretch>
        </p:blipFill>
        <p:spPr>
          <a:xfrm>
            <a:off x="685800" y="6382512"/>
            <a:ext cx="170028" cy="219456"/>
          </a:xfrm>
          <a:prstGeom prst="rect">
            <a:avLst/>
          </a:prstGeom>
        </p:spPr>
      </p:pic>
      <p:sp>
        <p:nvSpPr>
          <p:cNvPr id="8" name="TextBox 7"/>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9" name="TextBox 8"/>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14 / 20</a:t>
            </a:r>
          </a:p>
        </p:txBody>
      </p:sp>
      <p:cxnSp>
        <p:nvCxnSpPr>
          <p:cNvPr id="10" name="Connector 9"/>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Brand guidelines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Represent Zebraish positively and professionally, always.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No false or misleading claims about Zebraish, its products, or services.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Don't imply you're an owner, director, or officer of Zebraish.</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No unauthorized promises or commitments on Zebraish's behalf.</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Paid advertising or sponsorships need Joshua's written approval before you commit to any spend.</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15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Content &amp; your rights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You keep full ownership of your identity, image, and likeness, always.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Zebraish gets a non-exclusive license to use approved content (photos, videos, your name) for promotional purposes on Instagram, TikTok, the website, and ads.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That license runs during the Term, plus 6 months after it ends, for archival and portfolio use only, not new campaigns.</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Confidential Zebraish information (products, pricing, strategy) stays confidential, during and after the Term.</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16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15000"/>
              </a:lnSpc>
            </a:pPr>
            <a:r>
              <a:rPr sz="2700" b="1">
                <a:solidFill>
                  <a:srgbClr val="FFFFFF"/>
                </a:solidFill>
                <a:latin typeface="Helvetica Neue"/>
              </a:rPr>
              <a:t>Term &amp; how it ends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685800" y="1920240"/>
            <a:ext cx="10817352" cy="621792"/>
          </a:xfrm>
          <a:prstGeom prst="rect">
            <a:avLst/>
          </a:prstGeom>
          <a:solidFill>
            <a:srgbClr val="1D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29968"/>
            <a:ext cx="4846320"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Item</a:t>
            </a:r>
          </a:p>
        </p:txBody>
      </p:sp>
      <p:sp>
        <p:nvSpPr>
          <p:cNvPr id="7" name="TextBox 6"/>
          <p:cNvSpPr txBox="1"/>
          <p:nvPr/>
        </p:nvSpPr>
        <p:spPr>
          <a:xfrm>
            <a:off x="5989320" y="2029968"/>
            <a:ext cx="5422392" cy="621792"/>
          </a:xfrm>
          <a:prstGeom prst="rect">
            <a:avLst/>
          </a:prstGeom>
          <a:noFill/>
        </p:spPr>
        <p:txBody>
          <a:bodyPr wrap="square" anchor="t" lIns="0" rIns="0" tIns="0" bIns="0">
            <a:spAutoFit/>
          </a:bodyPr>
          <a:lstStyle/>
          <a:p>
            <a:pPr algn="l">
              <a:lnSpc>
                <a:spcPct val="115000"/>
              </a:lnSpc>
            </a:pPr>
            <a:r>
              <a:rPr sz="1250" b="1">
                <a:solidFill>
                  <a:srgbClr val="FFFFFF"/>
                </a:solidFill>
                <a:latin typeface="Helvetica Neue"/>
              </a:rPr>
              <a:t>Detail</a:t>
            </a:r>
          </a:p>
        </p:txBody>
      </p:sp>
      <p:sp>
        <p:nvSpPr>
          <p:cNvPr id="8" name="Rectangle 7"/>
          <p:cNvSpPr/>
          <p:nvPr/>
        </p:nvSpPr>
        <p:spPr>
          <a:xfrm>
            <a:off x="685800" y="2542032"/>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33472"/>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Initial Term</a:t>
            </a:r>
          </a:p>
        </p:txBody>
      </p:sp>
      <p:sp>
        <p:nvSpPr>
          <p:cNvPr id="10" name="TextBox 9"/>
          <p:cNvSpPr txBox="1"/>
          <p:nvPr/>
        </p:nvSpPr>
        <p:spPr>
          <a:xfrm>
            <a:off x="5989320" y="2633472"/>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3 months from the date of last signature</a:t>
            </a:r>
          </a:p>
        </p:txBody>
      </p:sp>
      <p:sp>
        <p:nvSpPr>
          <p:cNvPr id="11" name="Rectangle 10"/>
          <p:cNvSpPr/>
          <p:nvPr/>
        </p:nvSpPr>
        <p:spPr>
          <a:xfrm>
            <a:off x="685800" y="3163824"/>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55264"/>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Renewal</a:t>
            </a:r>
          </a:p>
        </p:txBody>
      </p:sp>
      <p:sp>
        <p:nvSpPr>
          <p:cNvPr id="13" name="TextBox 12"/>
          <p:cNvSpPr txBox="1"/>
          <p:nvPr/>
        </p:nvSpPr>
        <p:spPr>
          <a:xfrm>
            <a:off x="5989320" y="3255264"/>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Only by mutual written agreement; otherwise it ends automatically</a:t>
            </a:r>
          </a:p>
        </p:txBody>
      </p:sp>
      <p:sp>
        <p:nvSpPr>
          <p:cNvPr id="14" name="Rectangle 13"/>
          <p:cNvSpPr/>
          <p:nvPr/>
        </p:nvSpPr>
        <p:spPr>
          <a:xfrm>
            <a:off x="685800" y="3785616"/>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877056"/>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Termination for convenience</a:t>
            </a:r>
          </a:p>
        </p:txBody>
      </p:sp>
      <p:sp>
        <p:nvSpPr>
          <p:cNvPr id="16" name="TextBox 15"/>
          <p:cNvSpPr txBox="1"/>
          <p:nvPr/>
        </p:nvSpPr>
        <p:spPr>
          <a:xfrm>
            <a:off x="5989320" y="3877056"/>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14 days' written notice, either side</a:t>
            </a:r>
          </a:p>
        </p:txBody>
      </p:sp>
      <p:sp>
        <p:nvSpPr>
          <p:cNvPr id="17" name="Rectangle 16"/>
          <p:cNvSpPr/>
          <p:nvPr/>
        </p:nvSpPr>
        <p:spPr>
          <a:xfrm>
            <a:off x="685800" y="4407408"/>
            <a:ext cx="10817352" cy="621792"/>
          </a:xfrm>
          <a:prstGeom prst="rect">
            <a:avLst/>
          </a:prstGeom>
          <a:solidFill>
            <a:srgbClr val="0B0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98848"/>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Immediate termination</a:t>
            </a:r>
          </a:p>
        </p:txBody>
      </p:sp>
      <p:sp>
        <p:nvSpPr>
          <p:cNvPr id="19" name="TextBox 18"/>
          <p:cNvSpPr txBox="1"/>
          <p:nvPr/>
        </p:nvSpPr>
        <p:spPr>
          <a:xfrm>
            <a:off x="5989320" y="4498848"/>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For serious misconduct, fraud, or an unremedied breach</a:t>
            </a:r>
          </a:p>
        </p:txBody>
      </p:sp>
      <p:sp>
        <p:nvSpPr>
          <p:cNvPr id="20" name="Rectangle 19"/>
          <p:cNvSpPr/>
          <p:nvPr/>
        </p:nvSpPr>
        <p:spPr>
          <a:xfrm>
            <a:off x="685800" y="5029200"/>
            <a:ext cx="10817352" cy="621792"/>
          </a:xfrm>
          <a:prstGeom prst="rect">
            <a:avLst/>
          </a:prstGeom>
          <a:solidFill>
            <a:srgbClr val="14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20640"/>
            <a:ext cx="4846320" cy="621792"/>
          </a:xfrm>
          <a:prstGeom prst="rect">
            <a:avLst/>
          </a:prstGeom>
          <a:noFill/>
        </p:spPr>
        <p:txBody>
          <a:bodyPr wrap="square" anchor="t" lIns="0" rIns="0" tIns="0" bIns="0">
            <a:spAutoFit/>
          </a:bodyPr>
          <a:lstStyle/>
          <a:p>
            <a:pPr algn="l">
              <a:lnSpc>
                <a:spcPct val="115000"/>
              </a:lnSpc>
            </a:pPr>
            <a:r>
              <a:rPr sz="1300" b="1">
                <a:solidFill>
                  <a:srgbClr val="FFFFFF"/>
                </a:solidFill>
                <a:latin typeface="Helvetica Neue"/>
              </a:rPr>
              <a:t>After termination</a:t>
            </a:r>
          </a:p>
        </p:txBody>
      </p:sp>
      <p:sp>
        <p:nvSpPr>
          <p:cNvPr id="22" name="TextBox 21"/>
          <p:cNvSpPr txBox="1"/>
          <p:nvPr/>
        </p:nvSpPr>
        <p:spPr>
          <a:xfrm>
            <a:off x="5989320" y="5120640"/>
            <a:ext cx="5422392" cy="621792"/>
          </a:xfrm>
          <a:prstGeom prst="rect">
            <a:avLst/>
          </a:prstGeom>
          <a:noFill/>
        </p:spPr>
        <p:txBody>
          <a:bodyPr wrap="square" anchor="t" lIns="0" rIns="0" tIns="0" bIns="0">
            <a:spAutoFit/>
          </a:bodyPr>
          <a:lstStyle/>
          <a:p>
            <a:pPr algn="l">
              <a:lnSpc>
                <a:spcPct val="115000"/>
              </a:lnSpc>
            </a:pPr>
            <a:r>
              <a:rPr sz="1300" b="0">
                <a:solidFill>
                  <a:srgbClr val="A6ACBA"/>
                </a:solidFill>
                <a:latin typeface="Helvetica Neue"/>
              </a:rPr>
              <a:t>Commission already earned on qualifying payments stays payable</a:t>
            </a:r>
          </a:p>
        </p:txBody>
      </p:sp>
      <p:cxnSp>
        <p:nvCxnSpPr>
          <p:cNvPr id="23" name="Connector 22"/>
          <p:cNvCxnSpPr/>
          <p:nvPr/>
        </p:nvCxnSpPr>
        <p:spPr>
          <a:xfrm>
            <a:off x="685800" y="19202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pic>
        <p:nvPicPr>
          <p:cNvPr id="24" name="Picture 23" descr="logo-head.png"/>
          <p:cNvPicPr>
            <a:picLocks noChangeAspect="1"/>
          </p:cNvPicPr>
          <p:nvPr/>
        </p:nvPicPr>
        <p:blipFill>
          <a:blip r:embed="rId2"/>
          <a:stretch>
            <a:fillRect/>
          </a:stretch>
        </p:blipFill>
        <p:spPr>
          <a:xfrm>
            <a:off x="685800" y="6382512"/>
            <a:ext cx="170028" cy="219456"/>
          </a:xfrm>
          <a:prstGeom prst="rect">
            <a:avLst/>
          </a:prstGeom>
        </p:spPr>
      </p:pic>
      <p:sp>
        <p:nvSpPr>
          <p:cNvPr id="25" name="TextBox 24"/>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26" name="TextBox 25"/>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17 / 20</a:t>
            </a:r>
          </a:p>
        </p:txBody>
      </p:sp>
      <p:cxnSp>
        <p:nvCxnSpPr>
          <p:cNvPr id="27" name="Connector 26"/>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3" name="TextBox 2"/>
          <p:cNvSpPr txBox="1"/>
          <p:nvPr/>
        </p:nvSpPr>
        <p:spPr>
          <a:xfrm>
            <a:off x="685800" y="868680"/>
            <a:ext cx="10515600" cy="914400"/>
          </a:xfrm>
          <a:prstGeom prst="rect">
            <a:avLst/>
          </a:prstGeom>
          <a:noFill/>
        </p:spPr>
        <p:txBody>
          <a:bodyPr wrap="square" anchor="t" lIns="0" rIns="0" tIns="0" bIns="0">
            <a:spAutoFit/>
          </a:bodyPr>
          <a:lstStyle/>
          <a:p>
            <a:pPr algn="l">
              <a:lnSpc>
                <a:spcPct val="105000"/>
              </a:lnSpc>
            </a:pPr>
            <a:r>
              <a:rPr sz="2700" b="1">
                <a:solidFill>
                  <a:srgbClr val="FFFFFF"/>
                </a:solidFill>
                <a:latin typeface="Helvetica Neue"/>
              </a:rPr>
              <a:t>Paid advertising &amp; monthly check-ins</a:t>
            </a:r>
          </a:p>
        </p:txBody>
      </p:sp>
      <p:cxnSp>
        <p:nvCxnSpPr>
          <p:cNvPr id="4" name="Connector 3"/>
          <p:cNvCxnSpPr/>
          <p:nvPr/>
        </p:nvCxnSpPr>
        <p:spPr>
          <a:xfrm>
            <a:off x="685800" y="1691640"/>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1965960"/>
            <a:ext cx="10424160" cy="3931920"/>
          </a:xfrm>
          <a:prstGeom prst="rect">
            <a:avLst/>
          </a:prstGeom>
          <a:noFill/>
        </p:spPr>
        <p:txBody>
          <a:bodyPr wrap="square" lIns="0" rIns="0">
            <a:spAutoFit/>
          </a:bodyPr>
          <a:lstStyle/>
          <a:p>
            <a:pPr>
              <a:lnSpc>
                <a:spcPct val="125000"/>
              </a:lnSpc>
              <a:spcAft>
                <a:spcPts val="1000"/>
              </a:spcAft>
            </a:pPr>
            <a:r>
              <a:rPr sz="1550" b="1">
                <a:solidFill>
                  <a:srgbClr val="4E9BF0"/>
                </a:solidFill>
                <a:latin typeface="Helvetica Neue"/>
              </a:rPr>
              <a:t>•  </a:t>
            </a:r>
            <a:r>
              <a:rPr sz="1550">
                <a:solidFill>
                  <a:srgbClr val="FFFFFF"/>
                </a:solidFill>
                <a:latin typeface="Helvetica Neue"/>
              </a:rPr>
              <a:t>If paid ads or boosted posts make sense, Joshua funds and confirms the budget in writing before anything's spent. You never commit Zebraish's money without sign-off.</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Once a month, a quick review: content delivered, client introductions, commission, and anything worth adjusting.</a:t>
            </a:r>
          </a:p>
          <a:p>
            <a:pPr>
              <a:lnSpc>
                <a:spcPct val="125000"/>
              </a:lnSpc>
              <a:spcAft>
                <a:spcPts val="1000"/>
              </a:spcAft>
            </a:pPr>
            <a:r>
              <a:rPr sz="1550" b="1">
                <a:solidFill>
                  <a:srgbClr val="4E9BF0"/>
                </a:solidFill>
                <a:latin typeface="Helvetica Neue"/>
              </a:rPr>
              <a:t>•  </a:t>
            </a:r>
            <a:r>
              <a:rPr sz="1550">
                <a:solidFill>
                  <a:srgbClr val="FFFFFF"/>
                </a:solidFill>
                <a:latin typeface="Helvetica Neue"/>
              </a:rPr>
              <a:t>Informal, low-friction: a call or a message is enough. It keeps both sides aligned without needing to touch the Agreement itself.</a:t>
            </a:r>
          </a:p>
        </p:txBody>
      </p:sp>
      <p:pic>
        <p:nvPicPr>
          <p:cNvPr id="6" name="Picture 5" descr="logo-head.png"/>
          <p:cNvPicPr>
            <a:picLocks noChangeAspect="1"/>
          </p:cNvPicPr>
          <p:nvPr/>
        </p:nvPicPr>
        <p:blipFill>
          <a:blip r:embed="rId2"/>
          <a:stretch>
            <a:fillRect/>
          </a:stretch>
        </p:blipFill>
        <p:spPr>
          <a:xfrm>
            <a:off x="685800" y="6382512"/>
            <a:ext cx="170028" cy="219456"/>
          </a:xfrm>
          <a:prstGeom prst="rect">
            <a:avLst/>
          </a:prstGeom>
        </p:spPr>
      </p:pic>
      <p:sp>
        <p:nvSpPr>
          <p:cNvPr id="7" name="TextBox 6"/>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8" name="TextBox 7"/>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18 / 20</a:t>
            </a:r>
          </a:p>
        </p:txBody>
      </p:sp>
      <p:cxnSp>
        <p:nvCxnSpPr>
          <p:cNvPr id="9" name="Connector 8"/>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D12"/>
        </a:solidFill>
        <a:effectLst/>
      </p:bgPr>
    </p:bg>
    <p:spTree>
      <p:nvGrpSpPr>
        <p:cNvPr id="1" name=""/>
        <p:cNvGrpSpPr/>
        <p:nvPr/>
      </p:nvGrpSpPr>
      <p:grpSpPr/>
      <p:sp>
        <p:nvSpPr>
          <p:cNvPr id="2" name="TextBox 1"/>
          <p:cNvSpPr txBox="1"/>
          <p:nvPr/>
        </p:nvSpPr>
        <p:spPr>
          <a:xfrm>
            <a:off x="685800" y="502920"/>
            <a:ext cx="7315200" cy="365760"/>
          </a:xfrm>
          <a:prstGeom prst="rect">
            <a:avLst/>
          </a:prstGeom>
          <a:noFill/>
        </p:spPr>
        <p:txBody>
          <a:bodyPr wrap="square" anchor="t" lIns="0" rIns="0" tIns="0" bIns="0">
            <a:spAutoFit/>
          </a:bodyPr>
          <a:lstStyle/>
          <a:p>
            <a:pPr algn="l">
              <a:lnSpc>
                <a:spcPct val="115000"/>
              </a:lnSpc>
            </a:pPr>
            <a:r>
              <a:rPr sz="1250" b="1">
                <a:solidFill>
                  <a:srgbClr val="4E9BF0"/>
                </a:solidFill>
                <a:latin typeface="Helvetica Neue"/>
              </a:rPr>
              <a:t>GUIDELINES &amp; TERMS</a:t>
            </a:r>
          </a:p>
        </p:txBody>
      </p:sp>
      <p:sp>
        <p:nvSpPr>
          <p:cNvPr id="3" name="TextBox 2"/>
          <p:cNvSpPr txBox="1"/>
          <p:nvPr/>
        </p:nvSpPr>
        <p:spPr>
          <a:xfrm>
            <a:off x="685800" y="868680"/>
            <a:ext cx="10515600" cy="640080"/>
          </a:xfrm>
          <a:prstGeom prst="rect">
            <a:avLst/>
          </a:prstGeom>
          <a:noFill/>
        </p:spPr>
        <p:txBody>
          <a:bodyPr wrap="square" anchor="t" lIns="0" rIns="0" tIns="0" bIns="0">
            <a:spAutoFit/>
          </a:bodyPr>
          <a:lstStyle/>
          <a:p>
            <a:pPr algn="l">
              <a:lnSpc>
                <a:spcPct val="115000"/>
              </a:lnSpc>
            </a:pPr>
            <a:r>
              <a:rPr sz="2700" b="1">
                <a:solidFill>
                  <a:srgbClr val="FFFFFF"/>
                </a:solidFill>
                <a:latin typeface="Helvetica Neue"/>
              </a:rPr>
              <a:t>What's coming: Fashion</a:t>
            </a:r>
          </a:p>
        </p:txBody>
      </p:sp>
      <p:pic>
        <p:nvPicPr>
          <p:cNvPr id="4" name="Picture 3" descr="fash1.jpg"/>
          <p:cNvPicPr>
            <a:picLocks noChangeAspect="1"/>
          </p:cNvPicPr>
          <p:nvPr/>
        </p:nvPicPr>
        <p:blipFill>
          <a:blip r:embed="rId2"/>
          <a:stretch>
            <a:fillRect/>
          </a:stretch>
        </p:blipFill>
        <p:spPr>
          <a:xfrm>
            <a:off x="685800" y="1691640"/>
            <a:ext cx="3496056" cy="3794760"/>
          </a:xfrm>
          <a:prstGeom prst="rect">
            <a:avLst/>
          </a:prstGeom>
        </p:spPr>
      </p:pic>
      <p:pic>
        <p:nvPicPr>
          <p:cNvPr id="5" name="Picture 4" descr="fash2.jpg"/>
          <p:cNvPicPr>
            <a:picLocks noChangeAspect="1"/>
          </p:cNvPicPr>
          <p:nvPr/>
        </p:nvPicPr>
        <p:blipFill>
          <a:blip r:embed="rId3"/>
          <a:stretch>
            <a:fillRect/>
          </a:stretch>
        </p:blipFill>
        <p:spPr>
          <a:xfrm>
            <a:off x="4346448" y="1691640"/>
            <a:ext cx="3496056" cy="3794760"/>
          </a:xfrm>
          <a:prstGeom prst="rect">
            <a:avLst/>
          </a:prstGeom>
        </p:spPr>
      </p:pic>
      <p:pic>
        <p:nvPicPr>
          <p:cNvPr id="6" name="Picture 5" descr="fash3.jpg"/>
          <p:cNvPicPr>
            <a:picLocks noChangeAspect="1"/>
          </p:cNvPicPr>
          <p:nvPr/>
        </p:nvPicPr>
        <p:blipFill>
          <a:blip r:embed="rId4"/>
          <a:stretch>
            <a:fillRect/>
          </a:stretch>
        </p:blipFill>
        <p:spPr>
          <a:xfrm>
            <a:off x="8007096" y="1691640"/>
            <a:ext cx="3496056" cy="3794760"/>
          </a:xfrm>
          <a:prstGeom prst="rect">
            <a:avLst/>
          </a:prstGeom>
        </p:spPr>
      </p:pic>
      <p:sp>
        <p:nvSpPr>
          <p:cNvPr id="7" name="TextBox 6"/>
          <p:cNvSpPr txBox="1"/>
          <p:nvPr/>
        </p:nvSpPr>
        <p:spPr>
          <a:xfrm>
            <a:off x="685800" y="5623560"/>
            <a:ext cx="10424160" cy="548640"/>
          </a:xfrm>
          <a:prstGeom prst="rect">
            <a:avLst/>
          </a:prstGeom>
          <a:noFill/>
        </p:spPr>
        <p:txBody>
          <a:bodyPr wrap="square" anchor="t" lIns="0" rIns="0" tIns="0" bIns="0">
            <a:spAutoFit/>
          </a:bodyPr>
          <a:lstStyle/>
          <a:p>
            <a:pPr algn="l">
              <a:lnSpc>
                <a:spcPct val="130000"/>
              </a:lnSpc>
            </a:pPr>
            <a:r>
              <a:rPr sz="1250" b="0">
                <a:solidFill>
                  <a:srgbClr val="A6ACBA"/>
                </a:solidFill>
                <a:latin typeface="Helvetica Neue"/>
              </a:rPr>
              <a:t>A preview, not the current job: reference styling for the Fashion line, launching soon. Animal-inspired patterns and textures reinterpreted for a premium range. Your role expands to include this once it's live; for now, the focus is Zebraish Studio.</a:t>
            </a:r>
          </a:p>
        </p:txBody>
      </p:sp>
      <p:pic>
        <p:nvPicPr>
          <p:cNvPr id="8" name="Picture 7" descr="logo-head.png"/>
          <p:cNvPicPr>
            <a:picLocks noChangeAspect="1"/>
          </p:cNvPicPr>
          <p:nvPr/>
        </p:nvPicPr>
        <p:blipFill>
          <a:blip r:embed="rId5"/>
          <a:stretch>
            <a:fillRect/>
          </a:stretch>
        </p:blipFill>
        <p:spPr>
          <a:xfrm>
            <a:off x="685800" y="6382512"/>
            <a:ext cx="170028" cy="219456"/>
          </a:xfrm>
          <a:prstGeom prst="rect">
            <a:avLst/>
          </a:prstGeom>
        </p:spPr>
      </p:pic>
      <p:sp>
        <p:nvSpPr>
          <p:cNvPr id="9" name="TextBox 8"/>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10" name="TextBox 9"/>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19 / 20</a:t>
            </a:r>
          </a:p>
        </p:txBody>
      </p:sp>
      <p:cxnSp>
        <p:nvCxnSpPr>
          <p:cNvPr id="11" name="Connector 10"/>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20"/>
        </a:solidFill>
        <a:effectLst/>
      </p:bgPr>
    </p:bg>
    <p:spTree>
      <p:nvGrpSpPr>
        <p:cNvPr id="1" name=""/>
        <p:cNvGrpSpPr/>
        <p:nvPr/>
      </p:nvGrpSpPr>
      <p:grpSpPr/>
      <p:pic>
        <p:nvPicPr>
          <p:cNvPr id="2" name="Picture 1" descr="logo-head.png"/>
          <p:cNvPicPr>
            <a:picLocks noChangeAspect="1"/>
          </p:cNvPicPr>
          <p:nvPr/>
        </p:nvPicPr>
        <p:blipFill>
          <a:blip r:embed="rId2"/>
          <a:stretch>
            <a:fillRect/>
          </a:stretch>
        </p:blipFill>
        <p:spPr>
          <a:xfrm>
            <a:off x="5394960" y="1371600"/>
            <a:ext cx="637608" cy="822960"/>
          </a:xfrm>
          <a:prstGeom prst="rect">
            <a:avLst/>
          </a:prstGeom>
        </p:spPr>
      </p:pic>
      <p:sp>
        <p:nvSpPr>
          <p:cNvPr id="3" name="TextBox 2"/>
          <p:cNvSpPr txBox="1"/>
          <p:nvPr/>
        </p:nvSpPr>
        <p:spPr>
          <a:xfrm>
            <a:off x="685800" y="2651760"/>
            <a:ext cx="10817352" cy="365760"/>
          </a:xfrm>
          <a:prstGeom prst="rect">
            <a:avLst/>
          </a:prstGeom>
          <a:noFill/>
        </p:spPr>
        <p:txBody>
          <a:bodyPr wrap="square" anchor="t" lIns="0" rIns="0" tIns="0" bIns="0">
            <a:spAutoFit/>
          </a:bodyPr>
          <a:lstStyle/>
          <a:p>
            <a:pPr algn="ctr">
              <a:lnSpc>
                <a:spcPct val="115000"/>
              </a:lnSpc>
            </a:pPr>
            <a:r>
              <a:rPr sz="1250" b="1">
                <a:solidFill>
                  <a:srgbClr val="4E9BF0"/>
                </a:solidFill>
                <a:latin typeface="Helvetica Neue"/>
              </a:rPr>
              <a:t>NEXT STEP</a:t>
            </a:r>
          </a:p>
        </p:txBody>
      </p:sp>
      <p:sp>
        <p:nvSpPr>
          <p:cNvPr id="4" name="TextBox 3"/>
          <p:cNvSpPr txBox="1"/>
          <p:nvPr/>
        </p:nvSpPr>
        <p:spPr>
          <a:xfrm>
            <a:off x="685800" y="3017520"/>
            <a:ext cx="10817352" cy="914400"/>
          </a:xfrm>
          <a:prstGeom prst="rect">
            <a:avLst/>
          </a:prstGeom>
          <a:noFill/>
        </p:spPr>
        <p:txBody>
          <a:bodyPr wrap="square" anchor="t" lIns="0" rIns="0" tIns="0" bIns="0">
            <a:spAutoFit/>
          </a:bodyPr>
          <a:lstStyle/>
          <a:p>
            <a:pPr algn="ctr">
              <a:lnSpc>
                <a:spcPct val="115000"/>
              </a:lnSpc>
            </a:pPr>
            <a:r>
              <a:rPr sz="3200" b="1">
                <a:solidFill>
                  <a:srgbClr val="FFFFFF"/>
                </a:solidFill>
                <a:latin typeface="Helvetica Neue"/>
              </a:rPr>
              <a:t>Let's make it official</a:t>
            </a:r>
          </a:p>
        </p:txBody>
      </p:sp>
      <p:sp>
        <p:nvSpPr>
          <p:cNvPr id="5" name="TextBox 4"/>
          <p:cNvSpPr txBox="1"/>
          <p:nvPr/>
        </p:nvSpPr>
        <p:spPr>
          <a:xfrm>
            <a:off x="1737360" y="3931920"/>
            <a:ext cx="8686800" cy="731520"/>
          </a:xfrm>
          <a:prstGeom prst="rect">
            <a:avLst/>
          </a:prstGeom>
          <a:noFill/>
        </p:spPr>
        <p:txBody>
          <a:bodyPr wrap="square" anchor="t" lIns="0" rIns="0" tIns="0" bIns="0">
            <a:spAutoFit/>
          </a:bodyPr>
          <a:lstStyle/>
          <a:p>
            <a:pPr algn="ctr">
              <a:lnSpc>
                <a:spcPct val="135000"/>
              </a:lnSpc>
            </a:pPr>
            <a:r>
              <a:rPr sz="1450" b="0">
                <a:solidFill>
                  <a:srgbClr val="A6ACBA"/>
                </a:solidFill>
                <a:latin typeface="Helvetica Neue"/>
              </a:rPr>
              <a:t>This presentation is context. The Official Collaboration Agreement is the document that makes it binding. Read it, ask anything, and sign when you're ready.</a:t>
            </a:r>
          </a:p>
        </p:txBody>
      </p:sp>
      <p:sp>
        <p:nvSpPr>
          <p:cNvPr id="6" name="TextBox 5"/>
          <p:cNvSpPr txBox="1"/>
          <p:nvPr/>
        </p:nvSpPr>
        <p:spPr>
          <a:xfrm>
            <a:off x="685800" y="4800600"/>
            <a:ext cx="10817352" cy="201168"/>
          </a:xfrm>
          <a:prstGeom prst="rect">
            <a:avLst/>
          </a:prstGeom>
          <a:noFill/>
        </p:spPr>
        <p:txBody>
          <a:bodyPr wrap="square" anchor="t" lIns="0" rIns="0" tIns="0" bIns="0">
            <a:spAutoFit/>
          </a:bodyPr>
          <a:lstStyle/>
          <a:p>
            <a:pPr algn="ctr">
              <a:lnSpc>
                <a:spcPct val="115000"/>
              </a:lnSpc>
            </a:pPr>
            <a:r>
              <a:rPr sz="950" b="1">
                <a:solidFill>
                  <a:srgbClr val="A6ACBA"/>
                </a:solidFill>
                <a:latin typeface="Helvetica Neue"/>
              </a:rPr>
              <a:t>Founder / Brand Representative</a:t>
            </a:r>
          </a:p>
        </p:txBody>
      </p:sp>
      <p:sp>
        <p:nvSpPr>
          <p:cNvPr id="7" name="TextBox 6"/>
          <p:cNvSpPr txBox="1"/>
          <p:nvPr/>
        </p:nvSpPr>
        <p:spPr>
          <a:xfrm>
            <a:off x="685800" y="5020056"/>
            <a:ext cx="10817352" cy="274320"/>
          </a:xfrm>
          <a:prstGeom prst="rect">
            <a:avLst/>
          </a:prstGeom>
          <a:noFill/>
        </p:spPr>
        <p:txBody>
          <a:bodyPr wrap="square" anchor="t" lIns="0" rIns="0" tIns="0" bIns="0">
            <a:spAutoFit/>
          </a:bodyPr>
          <a:lstStyle/>
          <a:p>
            <a:pPr algn="ctr">
              <a:lnSpc>
                <a:spcPct val="115000"/>
              </a:lnSpc>
            </a:pPr>
            <a:r>
              <a:rPr sz="1250" b="0">
                <a:solidFill>
                  <a:srgbClr val="FFFFFF"/>
                </a:solidFill>
                <a:latin typeface="Helvetica Neue"/>
              </a:rPr>
              <a:t>Joshua Bankole · j0shbankole19@gmail.com · +234 816 532 0780</a:t>
            </a:r>
          </a:p>
        </p:txBody>
      </p:sp>
      <p:sp>
        <p:nvSpPr>
          <p:cNvPr id="8" name="TextBox 7"/>
          <p:cNvSpPr txBox="1"/>
          <p:nvPr/>
        </p:nvSpPr>
        <p:spPr>
          <a:xfrm>
            <a:off x="685800" y="5221224"/>
            <a:ext cx="10817352" cy="201168"/>
          </a:xfrm>
          <a:prstGeom prst="rect">
            <a:avLst/>
          </a:prstGeom>
          <a:noFill/>
        </p:spPr>
        <p:txBody>
          <a:bodyPr wrap="square" anchor="t" lIns="0" rIns="0" tIns="0" bIns="0">
            <a:spAutoFit/>
          </a:bodyPr>
          <a:lstStyle/>
          <a:p>
            <a:pPr algn="ctr">
              <a:lnSpc>
                <a:spcPct val="115000"/>
              </a:lnSpc>
            </a:pPr>
            <a:r>
              <a:rPr sz="950" b="1">
                <a:solidFill>
                  <a:srgbClr val="A6ACBA"/>
                </a:solidFill>
                <a:latin typeface="Helvetica Neue"/>
              </a:rPr>
              <a:t>Official Collaboration Partner</a:t>
            </a:r>
          </a:p>
        </p:txBody>
      </p:sp>
      <p:sp>
        <p:nvSpPr>
          <p:cNvPr id="9" name="TextBox 8"/>
          <p:cNvSpPr txBox="1"/>
          <p:nvPr/>
        </p:nvSpPr>
        <p:spPr>
          <a:xfrm>
            <a:off x="685800" y="5440680"/>
            <a:ext cx="10817352" cy="274320"/>
          </a:xfrm>
          <a:prstGeom prst="rect">
            <a:avLst/>
          </a:prstGeom>
          <a:noFill/>
        </p:spPr>
        <p:txBody>
          <a:bodyPr wrap="square" anchor="t" lIns="0" rIns="0" tIns="0" bIns="0">
            <a:spAutoFit/>
          </a:bodyPr>
          <a:lstStyle/>
          <a:p>
            <a:pPr algn="ctr">
              <a:lnSpc>
                <a:spcPct val="115000"/>
              </a:lnSpc>
            </a:pPr>
            <a:r>
              <a:rPr sz="1250" b="0">
                <a:solidFill>
                  <a:srgbClr val="FFFFFF"/>
                </a:solidFill>
                <a:latin typeface="Helvetica Neue"/>
              </a:rPr>
              <a:t>Christian Prieto · +34 631 53 71 36 · Barcelona, Spain</a:t>
            </a:r>
          </a:p>
        </p:txBody>
      </p:sp>
      <p:sp>
        <p:nvSpPr>
          <p:cNvPr id="10" name="TextBox 9"/>
          <p:cNvSpPr txBox="1"/>
          <p:nvPr/>
        </p:nvSpPr>
        <p:spPr>
          <a:xfrm>
            <a:off x="685800" y="5641848"/>
            <a:ext cx="10817352" cy="201168"/>
          </a:xfrm>
          <a:prstGeom prst="rect">
            <a:avLst/>
          </a:prstGeom>
          <a:noFill/>
        </p:spPr>
        <p:txBody>
          <a:bodyPr wrap="square" anchor="t" lIns="0" rIns="0" tIns="0" bIns="0">
            <a:spAutoFit/>
          </a:bodyPr>
          <a:lstStyle/>
          <a:p>
            <a:pPr algn="ctr">
              <a:lnSpc>
                <a:spcPct val="115000"/>
              </a:lnSpc>
            </a:pPr>
            <a:r>
              <a:rPr sz="950" b="1">
                <a:solidFill>
                  <a:srgbClr val="A6ACBA"/>
                </a:solidFill>
                <a:latin typeface="Helvetica Neue"/>
              </a:rPr>
              <a:t>Document to sign</a:t>
            </a:r>
          </a:p>
        </p:txBody>
      </p:sp>
      <p:sp>
        <p:nvSpPr>
          <p:cNvPr id="11" name="TextBox 10"/>
          <p:cNvSpPr txBox="1"/>
          <p:nvPr/>
        </p:nvSpPr>
        <p:spPr>
          <a:xfrm>
            <a:off x="685800" y="5861304"/>
            <a:ext cx="10817352" cy="274320"/>
          </a:xfrm>
          <a:prstGeom prst="rect">
            <a:avLst/>
          </a:prstGeom>
          <a:noFill/>
        </p:spPr>
        <p:txBody>
          <a:bodyPr wrap="square" anchor="t" lIns="0" rIns="0" tIns="0" bIns="0">
            <a:spAutoFit/>
          </a:bodyPr>
          <a:lstStyle/>
          <a:p>
            <a:pPr algn="ctr">
              <a:lnSpc>
                <a:spcPct val="115000"/>
              </a:lnSpc>
            </a:pPr>
            <a:r>
              <a:rPr sz="1250" b="0">
                <a:solidFill>
                  <a:srgbClr val="FFFFFF"/>
                </a:solidFill>
                <a:latin typeface="Helvetica Neue"/>
              </a:rPr>
              <a:t>Zebraish Official Collaboration Agreement (EN / ES)</a:t>
            </a:r>
          </a:p>
        </p:txBody>
      </p:sp>
      <p:pic>
        <p:nvPicPr>
          <p:cNvPr id="12" name="Picture 11" descr="logo-head.png"/>
          <p:cNvPicPr>
            <a:picLocks noChangeAspect="1"/>
          </p:cNvPicPr>
          <p:nvPr/>
        </p:nvPicPr>
        <p:blipFill>
          <a:blip r:embed="rId2"/>
          <a:stretch>
            <a:fillRect/>
          </a:stretch>
        </p:blipFill>
        <p:spPr>
          <a:xfrm>
            <a:off x="685800" y="6382512"/>
            <a:ext cx="170028" cy="219456"/>
          </a:xfrm>
          <a:prstGeom prst="rect">
            <a:avLst/>
          </a:prstGeom>
        </p:spPr>
      </p:pic>
      <p:sp>
        <p:nvSpPr>
          <p:cNvPr id="13" name="TextBox 12"/>
          <p:cNvSpPr txBox="1"/>
          <p:nvPr/>
        </p:nvSpPr>
        <p:spPr>
          <a:xfrm>
            <a:off x="1051560" y="6355080"/>
            <a:ext cx="5486400" cy="320040"/>
          </a:xfrm>
          <a:prstGeom prst="rect">
            <a:avLst/>
          </a:prstGeom>
          <a:noFill/>
        </p:spPr>
        <p:txBody>
          <a:bodyPr wrap="square" anchor="t" lIns="0" rIns="0" tIns="0" bIns="0">
            <a:spAutoFit/>
          </a:bodyPr>
          <a:lstStyle/>
          <a:p>
            <a:pPr algn="l">
              <a:lnSpc>
                <a:spcPct val="115000"/>
              </a:lnSpc>
            </a:pPr>
            <a:r>
              <a:rPr sz="1000" b="1">
                <a:solidFill>
                  <a:srgbClr val="A6ACBA"/>
                </a:solidFill>
                <a:latin typeface="Helvetica Neue"/>
              </a:rPr>
              <a:t>ZEBRAISH</a:t>
            </a:r>
          </a:p>
        </p:txBody>
      </p:sp>
      <p:sp>
        <p:nvSpPr>
          <p:cNvPr id="14" name="TextBox 13"/>
          <p:cNvSpPr txBox="1"/>
          <p:nvPr/>
        </p:nvSpPr>
        <p:spPr>
          <a:xfrm>
            <a:off x="8503920" y="6355080"/>
            <a:ext cx="3017520" cy="320040"/>
          </a:xfrm>
          <a:prstGeom prst="rect">
            <a:avLst/>
          </a:prstGeom>
          <a:noFill/>
        </p:spPr>
        <p:txBody>
          <a:bodyPr wrap="square" anchor="t" lIns="0" rIns="0" tIns="0" bIns="0">
            <a:spAutoFit/>
          </a:bodyPr>
          <a:lstStyle/>
          <a:p>
            <a:pPr algn="r">
              <a:lnSpc>
                <a:spcPct val="115000"/>
              </a:lnSpc>
            </a:pPr>
            <a:r>
              <a:rPr sz="1000" b="0">
                <a:solidFill>
                  <a:srgbClr val="A6ACBA"/>
                </a:solidFill>
                <a:latin typeface="Helvetica Neue"/>
              </a:rPr>
              <a:t>Guidelines &amp; Terms   ·   20 / 20</a:t>
            </a:r>
          </a:p>
        </p:txBody>
      </p:sp>
      <p:cxnSp>
        <p:nvCxnSpPr>
          <p:cNvPr id="15" name="Connector 14"/>
          <p:cNvCxnSpPr/>
          <p:nvPr/>
        </p:nvCxnSpPr>
        <p:spPr>
          <a:xfrm>
            <a:off x="685800" y="6291072"/>
            <a:ext cx="10817352" cy="0"/>
          </a:xfrm>
          <a:prstGeom prst="line">
            <a:avLst/>
          </a:prstGeom>
          <a:ln w="12700">
            <a:solidFill>
              <a:srgbClr val="2A2E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